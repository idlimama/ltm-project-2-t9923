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501" r:id="rId7"/>
    <p:sldId id="2147470498" r:id="rId8"/>
    <p:sldId id="2147470497" r:id="rId9"/>
    <p:sldId id="2147470499" r:id="rId10"/>
    <p:sldId id="2147470503" r:id="rId11"/>
    <p:sldId id="2147470505" r:id="rId12"/>
    <p:sldId id="2147470506" r:id="rId13"/>
    <p:sldId id="2147470507" r:id="rId14"/>
    <p:sldId id="2147470508" r:id="rId15"/>
    <p:sldId id="2147470509" r:id="rId16"/>
    <p:sldId id="2147470510" r:id="rId17"/>
    <p:sldId id="2147470511" r:id="rId18"/>
    <p:sldId id="2147470512" r:id="rId19"/>
    <p:sldId id="2147470513" r:id="rId20"/>
    <p:sldId id="214747051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4206240" y="1691640"/>
            <a:ext cx="384048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Review III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131" y="2310306"/>
            <a:ext cx="10484986" cy="646331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rPr sz="3600" dirty="0"/>
              <a:t>Offline Edge Telemetry and</a:t>
            </a:r>
            <a:r>
              <a:rPr lang="en-IN" sz="3600" dirty="0"/>
              <a:t> Diagnostic Support</a:t>
            </a:r>
            <a:r>
              <a:rPr sz="3600" dirty="0"/>
              <a:t>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5946" y="3971860"/>
            <a:ext cx="5589352" cy="64633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sz="3600" dirty="0"/>
              <a:t>Adithyash B</a:t>
            </a:r>
            <a:r>
              <a:rPr lang="en-IN" sz="3600" dirty="0"/>
              <a:t> </a:t>
            </a:r>
            <a:r>
              <a:rPr sz="3600" dirty="0" err="1"/>
              <a:t>Chandaralingam</a:t>
            </a:r>
            <a:endParaRPr sz="3600" dirty="0"/>
          </a:p>
        </p:txBody>
      </p:sp>
      <p:sp>
        <p:nvSpPr>
          <p:cNvPr id="21" name="TextBox 20"/>
          <p:cNvSpPr txBox="1"/>
          <p:nvPr/>
        </p:nvSpPr>
        <p:spPr>
          <a:xfrm>
            <a:off x="5565715" y="4572000"/>
            <a:ext cx="1030090" cy="49244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lang="en-IN" sz="2600" dirty="0"/>
              <a:t>T-9923</a:t>
            </a:r>
            <a:endParaRPr sz="2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077D7F-6195-C722-F108-6F4CF4B79F7E}"/>
              </a:ext>
            </a:extLst>
          </p:cNvPr>
          <p:cNvSpPr txBox="1"/>
          <p:nvPr/>
        </p:nvSpPr>
        <p:spPr>
          <a:xfrm>
            <a:off x="13326256" y="27282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1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56032" y="438912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700" b="1">
                <a:solidFill>
                  <a:srgbClr val="1F4E79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45720"/>
            <a:ext cx="45720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Offline Edge Telemetry and Repair Support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261872"/>
            <a:ext cx="11069505" cy="3693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800" b="0">
                <a:solidFill>
                  <a:srgbClr val="5B6573"/>
                </a:solidFill>
                <a:latin typeface="Calibri"/>
              </a:defRPr>
            </a:pPr>
            <a:r>
              <a:rPr dirty="0"/>
              <a:t>A local workstation</a:t>
            </a:r>
            <a:r>
              <a:rPr lang="en-IN" dirty="0"/>
              <a:t> software</a:t>
            </a:r>
            <a:r>
              <a:rPr dirty="0"/>
              <a:t> that combines operational readings with safety rules and linked maintenance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874519"/>
            <a:ext cx="3429000" cy="2331720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" y="1874519"/>
            <a:ext cx="73152" cy="2331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2064" y="1984248"/>
            <a:ext cx="315468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600" b="1">
                <a:solidFill>
                  <a:srgbClr val="5B9BD5"/>
                </a:solidFill>
                <a:latin typeface="Calibri"/>
              </a:defRPr>
            </a:pPr>
            <a:r>
              <a:t>Operational 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313432"/>
            <a:ext cx="3136392" cy="181965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Calibri"/>
              </a:defRPr>
            </a:pPr>
            <a:r>
              <a:t>Telemetry</a:t>
            </a:r>
            <a:br/>
            <a:r>
              <a:t>Symptoms and logs</a:t>
            </a:r>
            <a:br/>
            <a:r>
              <a:t>Error codes</a:t>
            </a:r>
            <a:br/>
            <a:r>
              <a:t>Selected equipment profile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874519"/>
            <a:ext cx="3429000" cy="2331720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70832" y="1874519"/>
            <a:ext cx="73152" cy="2331720"/>
          </a:xfrm>
          <a:prstGeom prst="rect">
            <a:avLst/>
          </a:prstGeom>
          <a:solidFill>
            <a:srgbClr val="2E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5424" y="1984248"/>
            <a:ext cx="315468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600" b="1">
                <a:solidFill>
                  <a:srgbClr val="2E9B8C"/>
                </a:solidFill>
                <a:latin typeface="Calibri"/>
              </a:defRPr>
            </a:pPr>
            <a:r>
              <a:t>Controlled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313432"/>
            <a:ext cx="3136392" cy="181965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Calibri"/>
              </a:defRPr>
            </a:pPr>
            <a:r>
              <a:t>Input validation</a:t>
            </a:r>
            <a:br/>
            <a:r>
              <a:t>Deterministic safety rules</a:t>
            </a:r>
            <a:br/>
            <a:r>
              <a:t>Optional prediction</a:t>
            </a:r>
            <a:br/>
            <a:r>
              <a:t>Profile-filtered retrieval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94192" y="1874519"/>
            <a:ext cx="3429000" cy="2331720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94192" y="1874519"/>
            <a:ext cx="73152" cy="2331720"/>
          </a:xfrm>
          <a:prstGeom prst="rect">
            <a:avLst/>
          </a:prstGeom>
          <a:solidFill>
            <a:srgbClr val="1C7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58784" y="1984248"/>
            <a:ext cx="315468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600" b="1">
                <a:solidFill>
                  <a:srgbClr val="1C7C54"/>
                </a:solidFill>
                <a:latin typeface="Calibri"/>
              </a:defRPr>
            </a:pPr>
            <a:r>
              <a:t>Auditable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58784" y="2313432"/>
            <a:ext cx="3136392" cy="181965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Calibri"/>
              </a:defRPr>
            </a:pPr>
            <a:r>
              <a:t>Safety status</a:t>
            </a:r>
            <a:br/>
            <a:r>
              <a:t>Rule findings</a:t>
            </a:r>
            <a:br/>
            <a:r>
              <a:t>Evidence and source</a:t>
            </a:r>
            <a:br/>
            <a:r>
              <a:t>SQLite case and audit event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794760" y="3035808"/>
            <a:ext cx="521208" cy="1"/>
          </a:xfrm>
          <a:prstGeom prst="line">
            <a:avLst/>
          </a:prstGeom>
          <a:ln w="2286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818120" y="3035808"/>
            <a:ext cx="521207" cy="1"/>
          </a:xfrm>
          <a:prstGeom prst="line">
            <a:avLst/>
          </a:prstGeom>
          <a:ln w="22860">
            <a:solidFill>
              <a:srgbClr val="2E9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2920" y="4617720"/>
            <a:ext cx="11155680" cy="5943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700" b="1">
                <a:solidFill>
                  <a:srgbClr val="1F4E79"/>
                </a:solidFill>
                <a:latin typeface="Calibri"/>
              </a:defRPr>
            </a:pPr>
            <a:r>
              <a:rPr dirty="0"/>
              <a:t>Core principle: safety decides whether processing may continue; prediction provides context; a human authorizes action.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1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56032" y="438912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700" b="1">
                <a:solidFill>
                  <a:srgbClr val="1F4E79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45720"/>
            <a:ext cx="45720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Offline Edge Telemetry and Repair Support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17320"/>
            <a:ext cx="3520440" cy="1664208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17320"/>
            <a:ext cx="73152" cy="166420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1527048"/>
            <a:ext cx="32461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400" b="1">
                <a:solidFill>
                  <a:srgbClr val="5B9BD5"/>
                </a:solidFill>
                <a:latin typeface="Calibri"/>
              </a:defRPr>
            </a:pPr>
            <a:r>
              <a:t>Configure multiple equipment profiles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56232"/>
            <a:ext cx="2535246" cy="5232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rPr sz="1400" dirty="0"/>
              <a:t>Different schemas, rules, sources </a:t>
            </a:r>
            <a:endParaRPr lang="en-IN" sz="1400" dirty="0"/>
          </a:p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rPr sz="1400" dirty="0"/>
              <a:t>and model availability.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527048"/>
            <a:ext cx="4114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1300" b="1">
                <a:solidFill>
                  <a:srgbClr val="5B6573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417320"/>
            <a:ext cx="3520440" cy="1664208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60" y="1417320"/>
            <a:ext cx="73152" cy="1664208"/>
          </a:xfrm>
          <a:prstGeom prst="rect">
            <a:avLst/>
          </a:prstGeom>
          <a:solidFill>
            <a:srgbClr val="2E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16552" y="1527048"/>
            <a:ext cx="32461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400" b="1">
                <a:solidFill>
                  <a:srgbClr val="2E9B8C"/>
                </a:solidFill>
                <a:latin typeface="Calibri"/>
              </a:defRPr>
            </a:pPr>
            <a:r>
              <a:t>Enforce safety precedence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1856232"/>
            <a:ext cx="2612318" cy="5232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rPr sz="1400" dirty="0"/>
              <a:t>Critical conditions stop processing </a:t>
            </a:r>
            <a:endParaRPr lang="en-IN" sz="1400" dirty="0"/>
          </a:p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rPr sz="1400" dirty="0"/>
              <a:t>before prediction.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1527048"/>
            <a:ext cx="4114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1300" b="1">
                <a:solidFill>
                  <a:srgbClr val="5B6573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417320"/>
            <a:ext cx="3520440" cy="1664208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38160" y="1417320"/>
            <a:ext cx="73152" cy="1664208"/>
          </a:xfrm>
          <a:prstGeom prst="rect">
            <a:avLst/>
          </a:prstGeom>
          <a:solidFill>
            <a:srgbClr val="1C7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02752" y="1527048"/>
            <a:ext cx="32461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400" b="1">
                <a:solidFill>
                  <a:srgbClr val="1C7C54"/>
                </a:solidFill>
                <a:latin typeface="Calibri"/>
              </a:defRPr>
            </a:pPr>
            <a:r>
              <a:t>Retrieve traceable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1856232"/>
            <a:ext cx="2770374" cy="5232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rPr sz="1400" dirty="0"/>
              <a:t>Return profile-specific guidance with</a:t>
            </a:r>
            <a:endParaRPr lang="en-IN" sz="1400" dirty="0"/>
          </a:p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rPr sz="1400" dirty="0"/>
              <a:t>source, revision and location.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1527048"/>
            <a:ext cx="4114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1300" b="1">
                <a:solidFill>
                  <a:srgbClr val="5B6573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474720"/>
            <a:ext cx="3520440" cy="1664208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5760" y="3474720"/>
            <a:ext cx="73152" cy="1664208"/>
          </a:xfrm>
          <a:prstGeom prst="rect">
            <a:avLst/>
          </a:prstGeom>
          <a:solidFill>
            <a:srgbClr val="D1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" y="3584448"/>
            <a:ext cx="32461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400" b="1">
                <a:solidFill>
                  <a:srgbClr val="D19A00"/>
                </a:solidFill>
                <a:latin typeface="Calibri"/>
              </a:defRPr>
            </a:pPr>
            <a:r>
              <a:t>Operate locally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3913631"/>
            <a:ext cx="2359877" cy="5232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rPr sz="1400" dirty="0"/>
              <a:t>CPU-only </a:t>
            </a:r>
            <a:r>
              <a:rPr sz="1400" dirty="0" err="1"/>
              <a:t>Streamlit</a:t>
            </a:r>
            <a:r>
              <a:rPr sz="1400" dirty="0"/>
              <a:t> application </a:t>
            </a:r>
            <a:endParaRPr lang="en-IN" sz="1400" dirty="0"/>
          </a:p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rPr sz="1400" dirty="0"/>
              <a:t>with SQLite persistence.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3584448"/>
            <a:ext cx="4114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1300" b="1">
                <a:solidFill>
                  <a:srgbClr val="5B6573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60" y="3474720"/>
            <a:ext cx="3520440" cy="1664208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51960" y="3474720"/>
            <a:ext cx="73152" cy="16642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16552" y="3584448"/>
            <a:ext cx="32461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Calibri"/>
              </a:defRPr>
            </a:pPr>
            <a:r>
              <a:t>Support review readiness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16552" y="3913631"/>
            <a:ext cx="2944368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rPr lang="en-GB" sz="1400" dirty="0"/>
              <a:t>Visible backend state, test actions,</a:t>
            </a:r>
          </a:p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rPr lang="en-GB" sz="1400" dirty="0"/>
              <a:t>history, audit and limitations.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3584448"/>
            <a:ext cx="4114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1300" b="1">
                <a:solidFill>
                  <a:srgbClr val="5B6573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3474720"/>
            <a:ext cx="3520440" cy="1664208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138160" y="3474720"/>
            <a:ext cx="73152" cy="166420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02752" y="3584448"/>
            <a:ext cx="32461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400" b="1">
                <a:solidFill>
                  <a:srgbClr val="B42318"/>
                </a:solidFill>
                <a:latin typeface="Calibri"/>
              </a:defRPr>
            </a:pPr>
            <a:r>
              <a:t>Preserve human control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2752" y="3913631"/>
            <a:ext cx="2483437" cy="5232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rPr sz="1400" dirty="0"/>
              <a:t>No autonomous repair, restart</a:t>
            </a:r>
            <a:endParaRPr lang="en-IN" sz="1400" dirty="0"/>
          </a:p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rPr sz="1400" dirty="0"/>
              <a:t> approval or invented procedure.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20" y="3584448"/>
            <a:ext cx="4114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1300" b="1">
                <a:solidFill>
                  <a:srgbClr val="5B6573"/>
                </a:solidFill>
                <a:latin typeface="Calibri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1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56032" y="438912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700" b="1">
                <a:solidFill>
                  <a:srgbClr val="1F4E79"/>
                </a:solidFill>
                <a:latin typeface="Calibri"/>
              </a:defRPr>
            </a:pPr>
            <a:r>
              <a:t>Functional Modules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45720"/>
            <a:ext cx="45720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Offline Edge Telemetry and Repair Support System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1353312"/>
            <a:ext cx="2606040" cy="1417320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1353312"/>
            <a:ext cx="73152" cy="14173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1463040"/>
            <a:ext cx="23317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400" b="1">
                <a:solidFill>
                  <a:srgbClr val="5B9BD5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1792224"/>
            <a:ext cx="2073334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rPr sz="1400" dirty="0"/>
              <a:t>KPIs, health, cases, graph, self-check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1353312"/>
            <a:ext cx="2606040" cy="1417320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46120" y="1353312"/>
            <a:ext cx="73152" cy="1417320"/>
          </a:xfrm>
          <a:prstGeom prst="rect">
            <a:avLst/>
          </a:prstGeom>
          <a:solidFill>
            <a:srgbClr val="2E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10712" y="1463040"/>
            <a:ext cx="23317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400" b="1">
                <a:solidFill>
                  <a:srgbClr val="2E9B8C"/>
                </a:solidFill>
                <a:latin typeface="Calibri"/>
              </a:defRPr>
            </a:pPr>
            <a:r>
              <a:t>Diagnose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0712" y="1792224"/>
            <a:ext cx="1817101" cy="5232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rPr sz="1400" dirty="0"/>
              <a:t>Dynamic inputs, safety, </a:t>
            </a:r>
            <a:endParaRPr lang="en-IN" sz="1400" dirty="0"/>
          </a:p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rPr sz="1400" dirty="0"/>
              <a:t>prediction, evidence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1353312"/>
            <a:ext cx="2606040" cy="1417320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26480" y="1353312"/>
            <a:ext cx="73152" cy="1417320"/>
          </a:xfrm>
          <a:prstGeom prst="rect">
            <a:avLst/>
          </a:prstGeom>
          <a:solidFill>
            <a:srgbClr val="1C7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91072" y="1463040"/>
            <a:ext cx="23317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400" b="1">
                <a:solidFill>
                  <a:srgbClr val="1C7C54"/>
                </a:solidFill>
                <a:latin typeface="Calibri"/>
              </a:defRPr>
            </a:pPr>
            <a:r>
              <a:t>Profiles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1072" y="1792224"/>
            <a:ext cx="2051780" cy="5232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rPr sz="1400" dirty="0"/>
              <a:t>Schemas, backends, </a:t>
            </a:r>
            <a:endParaRPr lang="en-IN" sz="1400" dirty="0"/>
          </a:p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rPr sz="1400" dirty="0"/>
              <a:t>source counts, smoke tests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06840" y="1353312"/>
            <a:ext cx="2606040" cy="1417320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006840" y="1353312"/>
            <a:ext cx="73152" cy="1417320"/>
          </a:xfrm>
          <a:prstGeom prst="rect">
            <a:avLst/>
          </a:prstGeom>
          <a:solidFill>
            <a:srgbClr val="D1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71432" y="1463040"/>
            <a:ext cx="23317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400" b="1">
                <a:solidFill>
                  <a:srgbClr val="D19A00"/>
                </a:solidFill>
                <a:latin typeface="Calibri"/>
              </a:defRPr>
            </a:pPr>
            <a:r>
              <a:t>Manual Import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1433" y="1792224"/>
            <a:ext cx="187452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rPr sz="1400" dirty="0"/>
              <a:t>Visible PDF staging and review workflow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3209544"/>
            <a:ext cx="2606040" cy="1417320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65760" y="3209544"/>
            <a:ext cx="73152" cy="14173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0352" y="3319272"/>
            <a:ext cx="23317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Calibri"/>
              </a:defRPr>
            </a:pPr>
            <a:r>
              <a:t>Library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" y="3648456"/>
            <a:ext cx="1970411" cy="5232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rPr sz="1400" dirty="0"/>
              <a:t>Filtered evidence search </a:t>
            </a:r>
            <a:endParaRPr lang="en-IN" sz="1400" dirty="0"/>
          </a:p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rPr sz="1400" dirty="0"/>
              <a:t>and metadata verification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46120" y="3209544"/>
            <a:ext cx="2606040" cy="1417320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246120" y="3209544"/>
            <a:ext cx="73152" cy="1417320"/>
          </a:xfrm>
          <a:prstGeom prst="rect">
            <a:avLst/>
          </a:prstGeom>
          <a:solidFill>
            <a:srgbClr val="1E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410712" y="3319272"/>
            <a:ext cx="23317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400" b="1">
                <a:solidFill>
                  <a:srgbClr val="1EB4BE"/>
                </a:solidFill>
                <a:latin typeface="Calibri"/>
              </a:defRPr>
            </a:pPr>
            <a:r>
              <a:t>History &amp; Audit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10712" y="3648456"/>
            <a:ext cx="2164632" cy="5232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rPr sz="1400" dirty="0"/>
              <a:t>Persistent cases, export and </a:t>
            </a:r>
            <a:endParaRPr lang="en-IN" sz="1400" dirty="0"/>
          </a:p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rPr sz="1400" dirty="0"/>
              <a:t>append-only events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26480" y="3209544"/>
            <a:ext cx="2606040" cy="1417320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126480" y="3209544"/>
            <a:ext cx="73152" cy="14173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91072" y="3319272"/>
            <a:ext cx="23317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400" b="1">
                <a:solidFill>
                  <a:srgbClr val="B42318"/>
                </a:solidFill>
                <a:latin typeface="Calibri"/>
              </a:defRPr>
            </a:pPr>
            <a:r>
              <a:t>Evaluation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91072" y="3648456"/>
            <a:ext cx="2257248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rPr sz="1400" dirty="0"/>
              <a:t>Rapid deterministic regression suite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06840" y="3209544"/>
            <a:ext cx="2606040" cy="1417320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006840" y="3209544"/>
            <a:ext cx="73152" cy="1417320"/>
          </a:xfrm>
          <a:prstGeom prst="rect">
            <a:avLst/>
          </a:prstGeom>
          <a:solidFill>
            <a:srgbClr val="5B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71432" y="3319272"/>
            <a:ext cx="23317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400" b="1">
                <a:solidFill>
                  <a:srgbClr val="5B6573"/>
                </a:solidFill>
                <a:latin typeface="Calibri"/>
              </a:defRPr>
            </a:pPr>
            <a:r>
              <a:t>System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71432" y="3648456"/>
            <a:ext cx="2483116" cy="5232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rPr sz="1400" dirty="0"/>
              <a:t>Runtime disclosure, checkpoints </a:t>
            </a:r>
            <a:endParaRPr lang="en-IN" sz="1400" dirty="0"/>
          </a:p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rPr sz="1400" dirty="0"/>
              <a:t>and limitations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1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56032" y="438912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700" b="1">
                <a:solidFill>
                  <a:srgbClr val="1F4E79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45720"/>
            <a:ext cx="45720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Offline Edge Telemetry and Repair Support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261872"/>
            <a:ext cx="1098539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0">
                <a:solidFill>
                  <a:srgbClr val="5B6573"/>
                </a:solidFill>
                <a:latin typeface="Calibri"/>
              </a:defRPr>
            </a:pPr>
            <a:r>
              <a:rPr dirty="0"/>
              <a:t>When cloud access or specialist support is unavailable, technicians still need a controlled way to connect equipment context with the correct maintenance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057400"/>
            <a:ext cx="3429000" cy="2423160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057400"/>
            <a:ext cx="73152" cy="242316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2167128"/>
            <a:ext cx="315468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700" b="1">
                <a:solidFill>
                  <a:srgbClr val="B42318"/>
                </a:solidFill>
                <a:latin typeface="Calibri"/>
              </a:defRPr>
            </a:pPr>
            <a:r>
              <a:t>Fragmented diagnosis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615184"/>
            <a:ext cx="2684738" cy="107721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Calibri"/>
              </a:defRPr>
            </a:pPr>
            <a:r>
              <a:rPr sz="1600" dirty="0"/>
              <a:t>Readings, error codes and manuals are handled separately. Manual search is slow and easy to misapply.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057400"/>
            <a:ext cx="3429000" cy="2423160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2057400"/>
            <a:ext cx="73152" cy="2423160"/>
          </a:xfrm>
          <a:prstGeom prst="rect">
            <a:avLst/>
          </a:prstGeom>
          <a:solidFill>
            <a:srgbClr val="D1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3712" y="2167128"/>
            <a:ext cx="315468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700" b="1">
                <a:solidFill>
                  <a:srgbClr val="D19A00"/>
                </a:solidFill>
                <a:latin typeface="Calibri"/>
              </a:defRPr>
            </a:pPr>
            <a:r>
              <a:t>Unsafe automation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615184"/>
            <a:ext cx="2973361" cy="107721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Calibri"/>
              </a:defRPr>
            </a:pPr>
            <a:r>
              <a:rPr sz="1600" dirty="0"/>
              <a:t>A prediction alone cannot authorize repair or provide an approved procedure. Safety must remain deterministic.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2057400"/>
            <a:ext cx="3429000" cy="2423160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412480" y="2057400"/>
            <a:ext cx="73152" cy="2423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77072" y="2167128"/>
            <a:ext cx="315468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700" b="1">
                <a:solidFill>
                  <a:srgbClr val="1F4E79"/>
                </a:solidFill>
                <a:latin typeface="Calibri"/>
              </a:defRPr>
            </a:pPr>
            <a:r>
              <a:t>Weak traceability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2496312"/>
            <a:ext cx="3084576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Calibri"/>
              </a:defRPr>
            </a:pPr>
            <a:r>
              <a:rPr sz="1600" dirty="0"/>
              <a:t>Generic outputs often omit profile, page, revision, backend state, saved case and audit evidence.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1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56032" y="438912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700" b="1">
                <a:solidFill>
                  <a:srgbClr val="1F4E79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45720"/>
            <a:ext cx="45720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Offline Edge Telemetry and Repair Support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874519"/>
            <a:ext cx="1417320" cy="1051560"/>
          </a:xfrm>
          <a:prstGeom prst="roundRect">
            <a:avLst/>
          </a:prstGeom>
          <a:solidFill>
            <a:srgbClr val="EFF4F8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59" y="1956816"/>
            <a:ext cx="2743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200" b="1">
                <a:solidFill>
                  <a:srgbClr val="5B9BD5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39696"/>
            <a:ext cx="1078992" cy="5303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242424"/>
                </a:solidFill>
                <a:latin typeface="Calibri"/>
              </a:defRPr>
            </a:pPr>
            <a:r>
              <a:t>Select profile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46504" y="2404872"/>
            <a:ext cx="201168" cy="1"/>
          </a:xfrm>
          <a:prstGeom prst="line">
            <a:avLst/>
          </a:prstGeom>
          <a:ln w="22860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984248" y="1874519"/>
            <a:ext cx="1417320" cy="1051560"/>
          </a:xfrm>
          <a:prstGeom prst="roundRect">
            <a:avLst/>
          </a:prstGeom>
          <a:solidFill>
            <a:srgbClr val="EFF4F8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29967" y="1956816"/>
            <a:ext cx="2743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200" b="1">
                <a:solidFill>
                  <a:srgbClr val="5B9BD5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2848" y="2139696"/>
            <a:ext cx="1078992" cy="5303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242424"/>
                </a:solidFill>
                <a:latin typeface="Calibri"/>
              </a:defRPr>
            </a:pPr>
            <a:r>
              <a:t>Validate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10712" y="2404872"/>
            <a:ext cx="201168" cy="1"/>
          </a:xfrm>
          <a:prstGeom prst="line">
            <a:avLst/>
          </a:prstGeom>
          <a:ln w="22860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648456" y="1874519"/>
            <a:ext cx="1417320" cy="1051560"/>
          </a:xfrm>
          <a:prstGeom prst="roundRect">
            <a:avLst/>
          </a:prstGeom>
          <a:solidFill>
            <a:srgbClr val="EFF4F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94176" y="1956816"/>
            <a:ext cx="2743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200" b="1">
                <a:solidFill>
                  <a:srgbClr val="B4231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77056" y="2139696"/>
            <a:ext cx="1078992" cy="5303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242424"/>
                </a:solidFill>
                <a:latin typeface="Calibri"/>
              </a:defRPr>
            </a:pPr>
            <a:r>
              <a:t>Run safety rules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74920" y="2404872"/>
            <a:ext cx="201168" cy="1"/>
          </a:xfrm>
          <a:prstGeom prst="line">
            <a:avLst/>
          </a:prstGeom>
          <a:ln w="22860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312664" y="1874519"/>
            <a:ext cx="1417320" cy="1051560"/>
          </a:xfrm>
          <a:prstGeom prst="roundRect">
            <a:avLst/>
          </a:prstGeom>
          <a:solidFill>
            <a:srgbClr val="EFF4F8"/>
          </a:solidFill>
          <a:ln>
            <a:solidFill>
              <a:srgbClr val="2E9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58383" y="1956816"/>
            <a:ext cx="2743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200" b="1">
                <a:solidFill>
                  <a:srgbClr val="2E9B8C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41264" y="2139696"/>
            <a:ext cx="1078992" cy="5303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242424"/>
                </a:solidFill>
                <a:latin typeface="Calibri"/>
              </a:defRPr>
            </a:pPr>
            <a:r>
              <a:t>Apply exact rules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39127" y="2404872"/>
            <a:ext cx="201169" cy="1"/>
          </a:xfrm>
          <a:prstGeom prst="line">
            <a:avLst/>
          </a:prstGeom>
          <a:ln w="22860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976872" y="1874519"/>
            <a:ext cx="1417320" cy="1051560"/>
          </a:xfrm>
          <a:prstGeom prst="roundRect">
            <a:avLst/>
          </a:prstGeom>
          <a:solidFill>
            <a:srgbClr val="EFF4F8"/>
          </a:solidFill>
          <a:ln>
            <a:solidFill>
              <a:srgbClr val="2E9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22592" y="1956816"/>
            <a:ext cx="2743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200" b="1">
                <a:solidFill>
                  <a:srgbClr val="2E9B8C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5472" y="2139696"/>
            <a:ext cx="1078992" cy="5303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242424"/>
                </a:solidFill>
                <a:latin typeface="Calibri"/>
              </a:defRPr>
            </a:pPr>
            <a:r>
              <a:t>Optional prediction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403336" y="2404872"/>
            <a:ext cx="201168" cy="1"/>
          </a:xfrm>
          <a:prstGeom prst="line">
            <a:avLst/>
          </a:prstGeom>
          <a:ln w="22860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641080" y="1874519"/>
            <a:ext cx="1417320" cy="1051560"/>
          </a:xfrm>
          <a:prstGeom prst="roundRect">
            <a:avLst/>
          </a:prstGeom>
          <a:solidFill>
            <a:srgbClr val="EFF4F8"/>
          </a:solidFill>
          <a:ln>
            <a:solidFill>
              <a:srgbClr val="2E9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0" y="1956816"/>
            <a:ext cx="2743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200" b="1">
                <a:solidFill>
                  <a:srgbClr val="2E9B8C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2139696"/>
            <a:ext cx="1078992" cy="5303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242424"/>
                </a:solidFill>
                <a:latin typeface="Calibri"/>
              </a:defRPr>
            </a:pPr>
            <a:r>
              <a:t>Retrieve evidence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067544" y="2404872"/>
            <a:ext cx="201167" cy="1"/>
          </a:xfrm>
          <a:prstGeom prst="line">
            <a:avLst/>
          </a:prstGeom>
          <a:ln w="22860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05288" y="1874519"/>
            <a:ext cx="1417320" cy="1051560"/>
          </a:xfrm>
          <a:prstGeom prst="roundRect">
            <a:avLst/>
          </a:prstGeom>
          <a:solidFill>
            <a:srgbClr val="EFF4F8"/>
          </a:solidFill>
          <a:ln>
            <a:solidFill>
              <a:srgbClr val="1C7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351008" y="1956816"/>
            <a:ext cx="2743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200" b="1">
                <a:solidFill>
                  <a:srgbClr val="1C7C54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33888" y="2139696"/>
            <a:ext cx="1078992" cy="5303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242424"/>
                </a:solidFill>
                <a:latin typeface="Calibri"/>
              </a:defRPr>
            </a:pPr>
            <a:r>
              <a:t>Save case + audit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3246120"/>
            <a:ext cx="2423160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300" b="1">
                <a:solidFill>
                  <a:srgbClr val="B42318"/>
                </a:solidFill>
                <a:latin typeface="Calibri"/>
              </a:defRPr>
            </a:pPr>
            <a:r>
              <a:t>STOP / INVALID / UNSUPPORTED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389120" y="2907792"/>
            <a:ext cx="1" cy="274320"/>
          </a:xfrm>
          <a:prstGeom prst="line">
            <a:avLst/>
          </a:prstGeom>
          <a:ln w="22860">
            <a:solidFill>
              <a:srgbClr val="B42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337560" y="3611880"/>
            <a:ext cx="24231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200" b="0">
                <a:solidFill>
                  <a:srgbClr val="242424"/>
                </a:solidFill>
                <a:latin typeface="Calibri"/>
              </a:defRPr>
            </a:pPr>
            <a:r>
              <a:t>Safe refusal + human escalation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3246120"/>
            <a:ext cx="2011680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300" b="1">
                <a:solidFill>
                  <a:srgbClr val="D19A00"/>
                </a:solidFill>
                <a:latin typeface="Calibri"/>
              </a:defRPr>
            </a:pPr>
            <a:r>
              <a:t>NO APPROVED MATCH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464040" y="2907792"/>
            <a:ext cx="1" cy="274320"/>
          </a:xfrm>
          <a:prstGeom prst="line">
            <a:avLst/>
          </a:prstGeom>
          <a:ln w="22860">
            <a:solidFill>
              <a:srgbClr val="D19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549640" y="3611880"/>
            <a:ext cx="20116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200" b="0">
                <a:solidFill>
                  <a:srgbClr val="242424"/>
                </a:solidFill>
                <a:latin typeface="Calibri"/>
              </a:defRPr>
            </a:pPr>
            <a:r>
              <a:t>Do not improvise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4873752"/>
            <a:ext cx="1097280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600" b="1">
                <a:solidFill>
                  <a:srgbClr val="1F4E79"/>
                </a:solidFill>
                <a:latin typeface="Calibri"/>
              </a:defRPr>
            </a:pPr>
            <a:r>
              <a:rPr dirty="0"/>
              <a:t>Execution order is fixed. Safety, model state and retrieval state remain separate in the final result.</a:t>
            </a:r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1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56032" y="438912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700" b="1">
                <a:solidFill>
                  <a:srgbClr val="1F4E79"/>
                </a:solidFill>
                <a:latin typeface="Calibri"/>
              </a:defRPr>
            </a:pPr>
            <a:r>
              <a:t>Approach, Algorithms and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45720"/>
            <a:ext cx="45720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Offline Edge Telemetry and Repair Support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25880"/>
            <a:ext cx="2148840" cy="411480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" y="1389888"/>
            <a:ext cx="2002536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1325880"/>
            <a:ext cx="3154680" cy="411480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33472" y="1389888"/>
            <a:ext cx="3008376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Selected approach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0" y="1325880"/>
            <a:ext cx="5852160" cy="411480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88152" y="1389888"/>
            <a:ext cx="5705856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Review significance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737360"/>
            <a:ext cx="2148840" cy="448056"/>
          </a:xfrm>
          <a:prstGeom prst="rect">
            <a:avLst/>
          </a:prstGeom>
          <a:solidFill>
            <a:srgbClr val="FFFFFF"/>
          </a:solidFill>
          <a:ln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" y="1810512"/>
            <a:ext cx="2002536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rPr dirty="0"/>
              <a:t>User interface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1737360"/>
            <a:ext cx="3154680" cy="448056"/>
          </a:xfrm>
          <a:prstGeom prst="rect">
            <a:avLst/>
          </a:prstGeom>
          <a:solidFill>
            <a:srgbClr val="FFFFFF"/>
          </a:solidFill>
          <a:ln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33472" y="1810512"/>
            <a:ext cx="3008376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t>Streamlit + custom CSS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0" y="1737360"/>
            <a:ext cx="5852160" cy="448056"/>
          </a:xfrm>
          <a:prstGeom prst="rect">
            <a:avLst/>
          </a:prstGeom>
          <a:solidFill>
            <a:srgbClr val="FFFFFF"/>
          </a:solidFill>
          <a:ln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88152" y="1810512"/>
            <a:ext cx="5705856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t>Dense desktop-style diagnostic workbench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185415"/>
            <a:ext cx="2148840" cy="448056"/>
          </a:xfrm>
          <a:prstGeom prst="rect">
            <a:avLst/>
          </a:prstGeom>
          <a:solidFill>
            <a:srgbClr val="EFF4F8"/>
          </a:solidFill>
          <a:ln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4632" y="2258568"/>
            <a:ext cx="2002536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t>Backend services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2185415"/>
            <a:ext cx="3154680" cy="448056"/>
          </a:xfrm>
          <a:prstGeom prst="rect">
            <a:avLst/>
          </a:prstGeom>
          <a:solidFill>
            <a:srgbClr val="EFF4F8"/>
          </a:solidFill>
          <a:ln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33472" y="2258568"/>
            <a:ext cx="3008376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t>Python modules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0" y="2185415"/>
            <a:ext cx="5852160" cy="448056"/>
          </a:xfrm>
          <a:prstGeom prst="rect">
            <a:avLst/>
          </a:prstGeom>
          <a:solidFill>
            <a:srgbClr val="EFF4F8"/>
          </a:solidFill>
          <a:ln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88152" y="2258568"/>
            <a:ext cx="5705856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t>Profiles, rules, retrieval, cases and audit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633472"/>
            <a:ext cx="2148840" cy="448056"/>
          </a:xfrm>
          <a:prstGeom prst="rect">
            <a:avLst/>
          </a:prstGeom>
          <a:solidFill>
            <a:srgbClr val="FFFFFF"/>
          </a:solidFill>
          <a:ln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" y="2706624"/>
            <a:ext cx="2002536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t>Safety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0" y="2633472"/>
            <a:ext cx="3154680" cy="448056"/>
          </a:xfrm>
          <a:prstGeom prst="rect">
            <a:avLst/>
          </a:prstGeom>
          <a:solidFill>
            <a:srgbClr val="FFFFFF"/>
          </a:solidFill>
          <a:ln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633472" y="2706624"/>
            <a:ext cx="3008376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t>Deterministic thresholds and exact codes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15000" y="2633472"/>
            <a:ext cx="5852160" cy="448056"/>
          </a:xfrm>
          <a:prstGeom prst="rect">
            <a:avLst/>
          </a:prstGeom>
          <a:solidFill>
            <a:srgbClr val="FFFFFF"/>
          </a:solidFill>
          <a:ln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88152" y="2706624"/>
            <a:ext cx="5705856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t>Runs before prediction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3081528"/>
            <a:ext cx="2148840" cy="448056"/>
          </a:xfrm>
          <a:prstGeom prst="rect">
            <a:avLst/>
          </a:prstGeom>
          <a:solidFill>
            <a:srgbClr val="EFF4F8"/>
          </a:solidFill>
          <a:ln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4632" y="3154680"/>
            <a:ext cx="2002536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t>Prediction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0" y="3081528"/>
            <a:ext cx="3154680" cy="448056"/>
          </a:xfrm>
          <a:prstGeom prst="rect">
            <a:avLst/>
          </a:prstGeom>
          <a:solidFill>
            <a:srgbClr val="EFF4F8"/>
          </a:solidFill>
          <a:ln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633472" y="3154680"/>
            <a:ext cx="3008376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t>Transparent synthetic risk heuristic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15000" y="3081528"/>
            <a:ext cx="5852160" cy="448056"/>
          </a:xfrm>
          <a:prstGeom prst="rect">
            <a:avLst/>
          </a:prstGeom>
          <a:solidFill>
            <a:srgbClr val="EFF4F8"/>
          </a:solidFill>
          <a:ln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88152" y="3154680"/>
            <a:ext cx="5705856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t>Demonstration only; no fabricated ML metrics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529584"/>
            <a:ext cx="2148840" cy="448056"/>
          </a:xfrm>
          <a:prstGeom prst="rect">
            <a:avLst/>
          </a:prstGeom>
          <a:solidFill>
            <a:srgbClr val="FFFFFF"/>
          </a:solidFill>
          <a:ln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4632" y="3602736"/>
            <a:ext cx="2002536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t>Retrieval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0" y="3529584"/>
            <a:ext cx="3154680" cy="448056"/>
          </a:xfrm>
          <a:prstGeom prst="rect">
            <a:avLst/>
          </a:prstGeom>
          <a:solidFill>
            <a:srgbClr val="FFFFFF"/>
          </a:solidFill>
          <a:ln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633472" y="3602736"/>
            <a:ext cx="3008376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t>Token cosine similarity + profile filter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15000" y="3529584"/>
            <a:ext cx="5852160" cy="448056"/>
          </a:xfrm>
          <a:prstGeom prst="rect">
            <a:avLst/>
          </a:prstGeom>
          <a:solidFill>
            <a:srgbClr val="FFFFFF"/>
          </a:solidFill>
          <a:ln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788152" y="3602736"/>
            <a:ext cx="5705856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t>Lightweight substitute for FAISS in rapid build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3977639"/>
            <a:ext cx="2148840" cy="448056"/>
          </a:xfrm>
          <a:prstGeom prst="rect">
            <a:avLst/>
          </a:prstGeom>
          <a:solidFill>
            <a:srgbClr val="EFF4F8"/>
          </a:solidFill>
          <a:ln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84632" y="4050791"/>
            <a:ext cx="2002536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t>Persistence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60320" y="3977639"/>
            <a:ext cx="3154680" cy="448056"/>
          </a:xfrm>
          <a:prstGeom prst="rect">
            <a:avLst/>
          </a:prstGeom>
          <a:solidFill>
            <a:srgbClr val="EFF4F8"/>
          </a:solidFill>
          <a:ln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633472" y="4050791"/>
            <a:ext cx="3008376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t>SQLite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15000" y="3977639"/>
            <a:ext cx="5852160" cy="448056"/>
          </a:xfrm>
          <a:prstGeom prst="rect">
            <a:avLst/>
          </a:prstGeom>
          <a:solidFill>
            <a:srgbClr val="EFF4F8"/>
          </a:solidFill>
          <a:ln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788152" y="4050791"/>
            <a:ext cx="5705856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t>180 seeded cases plus live saves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425696"/>
            <a:ext cx="2148840" cy="448056"/>
          </a:xfrm>
          <a:prstGeom prst="rect">
            <a:avLst/>
          </a:prstGeom>
          <a:solidFill>
            <a:srgbClr val="FFFFFF"/>
          </a:solidFill>
          <a:ln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84632" y="4498848"/>
            <a:ext cx="2002536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t>Document intake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560320" y="4425696"/>
            <a:ext cx="3154680" cy="448056"/>
          </a:xfrm>
          <a:prstGeom prst="rect">
            <a:avLst/>
          </a:prstGeom>
          <a:solidFill>
            <a:srgbClr val="FFFFFF"/>
          </a:solidFill>
          <a:ln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633472" y="4498848"/>
            <a:ext cx="3008376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t>PDF file uploader + SHA-256 staging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15000" y="4425696"/>
            <a:ext cx="5852160" cy="448056"/>
          </a:xfrm>
          <a:prstGeom prst="rect">
            <a:avLst/>
          </a:prstGeom>
          <a:solidFill>
            <a:srgbClr val="FFFFFF"/>
          </a:solidFill>
          <a:ln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788152" y="4498848"/>
            <a:ext cx="5705856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t>Extraction and activation remain review-gated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4873752"/>
            <a:ext cx="2148840" cy="448056"/>
          </a:xfrm>
          <a:prstGeom prst="rect">
            <a:avLst/>
          </a:prstGeom>
          <a:solidFill>
            <a:srgbClr val="EFF4F8"/>
          </a:solidFill>
          <a:ln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84632" y="4946904"/>
            <a:ext cx="2002536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60320" y="4873752"/>
            <a:ext cx="3154680" cy="448056"/>
          </a:xfrm>
          <a:prstGeom prst="rect">
            <a:avLst/>
          </a:prstGeom>
          <a:solidFill>
            <a:srgbClr val="EFF4F8"/>
          </a:solidFill>
          <a:ln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633472" y="4946904"/>
            <a:ext cx="3008376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t>Self-checks and regression actions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15000" y="4873752"/>
            <a:ext cx="5852160" cy="448056"/>
          </a:xfrm>
          <a:prstGeom prst="rect">
            <a:avLst/>
          </a:prstGeom>
          <a:solidFill>
            <a:srgbClr val="EFF4F8"/>
          </a:solidFill>
          <a:ln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788152" y="4946904"/>
            <a:ext cx="5705856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242424"/>
                </a:solidFill>
                <a:latin typeface="Calibri"/>
              </a:defRPr>
            </a:pPr>
            <a:r>
              <a:t>Exercises profile, rules, retrieval and storage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1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56032" y="438912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700" b="1">
                <a:solidFill>
                  <a:srgbClr val="1F4E79"/>
                </a:solidFill>
                <a:latin typeface="Calibri"/>
              </a:defRPr>
            </a:pPr>
            <a:r>
              <a:t>Findings and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45720"/>
            <a:ext cx="45720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Offline Edge Telemetry and Repair Support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280160"/>
            <a:ext cx="2560320" cy="914400"/>
          </a:xfrm>
          <a:prstGeom prst="roundRect">
            <a:avLst/>
          </a:prstGeom>
          <a:solidFill>
            <a:srgbClr val="EFF4F8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" y="1399032"/>
            <a:ext cx="6858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300" b="1">
                <a:solidFill>
                  <a:srgbClr val="5B9BD5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463040"/>
            <a:ext cx="1600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200" b="1">
                <a:solidFill>
                  <a:srgbClr val="242424"/>
                </a:solidFill>
                <a:latin typeface="Calibri"/>
              </a:defRPr>
            </a:pPr>
            <a:r>
              <a:rPr dirty="0"/>
              <a:t>Active profiles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64408" y="1280160"/>
            <a:ext cx="2560320" cy="914400"/>
          </a:xfrm>
          <a:prstGeom prst="roundRect">
            <a:avLst/>
          </a:prstGeom>
          <a:solidFill>
            <a:srgbClr val="EFF4F8"/>
          </a:solidFill>
          <a:ln>
            <a:solidFill>
              <a:srgbClr val="2E9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74136" y="1399032"/>
            <a:ext cx="6858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300" b="1">
                <a:solidFill>
                  <a:srgbClr val="2E9B8C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1463040"/>
            <a:ext cx="1600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200" b="1">
                <a:solidFill>
                  <a:srgbClr val="242424"/>
                </a:solidFill>
                <a:latin typeface="Calibri"/>
              </a:defRPr>
            </a:pPr>
            <a:r>
              <a:t>Indexed passages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280160"/>
            <a:ext cx="2560320" cy="914400"/>
          </a:xfrm>
          <a:prstGeom prst="roundRect">
            <a:avLst/>
          </a:prstGeom>
          <a:solidFill>
            <a:srgbClr val="EFF4F8"/>
          </a:solidFill>
          <a:ln>
            <a:solidFill>
              <a:srgbClr val="1C7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54496" y="1399032"/>
            <a:ext cx="6858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300" b="1">
                <a:solidFill>
                  <a:srgbClr val="1C7C54"/>
                </a:solidFill>
                <a:latin typeface="Calibri"/>
              </a:defRPr>
            </a:pPr>
            <a:r>
              <a:t>180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463040"/>
            <a:ext cx="1600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200" b="1">
                <a:solidFill>
                  <a:srgbClr val="242424"/>
                </a:solidFill>
                <a:latin typeface="Calibri"/>
              </a:defRPr>
            </a:pPr>
            <a:r>
              <a:t>Seeded cases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25128" y="1280160"/>
            <a:ext cx="2560320" cy="914400"/>
          </a:xfrm>
          <a:prstGeom prst="roundRect">
            <a:avLst/>
          </a:prstGeom>
          <a:solidFill>
            <a:srgbClr val="EFF4F8"/>
          </a:solidFill>
          <a:ln>
            <a:solidFill>
              <a:srgbClr val="D1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34855" y="1399032"/>
            <a:ext cx="6858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300" b="1">
                <a:solidFill>
                  <a:srgbClr val="D19A00"/>
                </a:solidFill>
                <a:latin typeface="Calibri"/>
              </a:defRPr>
            </a:pPr>
            <a:r>
              <a:t>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1463040"/>
            <a:ext cx="1600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200" b="1">
                <a:solidFill>
                  <a:srgbClr val="242424"/>
                </a:solidFill>
                <a:latin typeface="Calibri"/>
              </a:defRPr>
            </a:pPr>
            <a:r>
              <a:t>Seeded audit events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2487168"/>
            <a:ext cx="3657600" cy="2240280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84048" y="2487168"/>
            <a:ext cx="73152" cy="2240280"/>
          </a:xfrm>
          <a:prstGeom prst="rect">
            <a:avLst/>
          </a:prstGeom>
          <a:solidFill>
            <a:srgbClr val="1C7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2596896"/>
            <a:ext cx="338328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600" b="1">
                <a:solidFill>
                  <a:srgbClr val="1C7C54"/>
                </a:solidFill>
                <a:latin typeface="Calibri"/>
              </a:defRPr>
            </a:pPr>
            <a:r>
              <a:t>Normal diagnostic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926080"/>
            <a:ext cx="2934971" cy="107721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Calibri"/>
              </a:defRPr>
            </a:pPr>
            <a:r>
              <a:rPr sz="1600" dirty="0"/>
              <a:t>Inputs validated</a:t>
            </a:r>
            <a:br>
              <a:rPr sz="1600" dirty="0"/>
            </a:br>
            <a:r>
              <a:rPr sz="1600" dirty="0"/>
              <a:t>Safety remains SAFE</a:t>
            </a:r>
            <a:br>
              <a:rPr sz="1600" dirty="0"/>
            </a:br>
            <a:r>
              <a:rPr sz="1600" dirty="0"/>
              <a:t>Synthetic risk estimate shown</a:t>
            </a:r>
            <a:br>
              <a:rPr sz="1600" dirty="0"/>
            </a:br>
            <a:r>
              <a:rPr sz="1600" dirty="0"/>
              <a:t>Evidence retrieved and case saved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70248" y="2487168"/>
            <a:ext cx="3657600" cy="2240280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70248" y="2487168"/>
            <a:ext cx="73152" cy="224028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34840" y="2596896"/>
            <a:ext cx="338328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600" b="1">
                <a:solidFill>
                  <a:srgbClr val="B42318"/>
                </a:solidFill>
                <a:latin typeface="Calibri"/>
              </a:defRPr>
            </a:pPr>
            <a:r>
              <a:t>Critical safety path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2926080"/>
            <a:ext cx="2749279" cy="107721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Calibri"/>
              </a:defRPr>
            </a:pPr>
            <a:r>
              <a:rPr sz="1600" dirty="0"/>
              <a:t>Critical threshold detected</a:t>
            </a:r>
            <a:br>
              <a:rPr sz="1600" dirty="0"/>
            </a:br>
            <a:r>
              <a:rPr sz="1600" dirty="0"/>
              <a:t>STOP_AND_ESCALATE returned</a:t>
            </a:r>
            <a:br>
              <a:rPr sz="1600" dirty="0"/>
            </a:br>
            <a:r>
              <a:rPr sz="1600" dirty="0"/>
              <a:t>Prediction is bypassed</a:t>
            </a:r>
            <a:br>
              <a:rPr sz="1600" dirty="0"/>
            </a:br>
            <a:r>
              <a:rPr sz="1600" dirty="0"/>
              <a:t>Evidence cannot override safety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56448" y="2487168"/>
            <a:ext cx="3657600" cy="2240280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56448" y="2487168"/>
            <a:ext cx="73152" cy="224028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21040" y="2596896"/>
            <a:ext cx="338328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600" b="1">
                <a:solidFill>
                  <a:srgbClr val="5B9BD5"/>
                </a:solidFill>
                <a:latin typeface="Calibri"/>
              </a:defRPr>
            </a:pPr>
            <a:r>
              <a:t>Reviewer 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926080"/>
            <a:ext cx="2471318" cy="107721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Calibri"/>
              </a:defRPr>
            </a:pPr>
            <a:r>
              <a:rPr sz="1600" dirty="0"/>
              <a:t>Self-check button</a:t>
            </a:r>
            <a:br>
              <a:rPr sz="1600" dirty="0"/>
            </a:br>
            <a:r>
              <a:rPr sz="1600" dirty="0"/>
              <a:t>PDF uploader visible</a:t>
            </a:r>
            <a:br>
              <a:rPr sz="1600" dirty="0"/>
            </a:br>
            <a:r>
              <a:rPr sz="1600" dirty="0"/>
              <a:t>History and CSV export</a:t>
            </a:r>
            <a:br>
              <a:rPr sz="1600" dirty="0"/>
            </a:br>
            <a:r>
              <a:rPr sz="1600" dirty="0"/>
              <a:t>Regression and audit actions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1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56032" y="438912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700" b="1">
                <a:solidFill>
                  <a:srgbClr val="1F4E79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45720"/>
            <a:ext cx="45720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Offline Edge Telemetry and Repair Support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353312"/>
            <a:ext cx="3520440" cy="2834640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353312"/>
            <a:ext cx="73152" cy="2834640"/>
          </a:xfrm>
          <a:prstGeom prst="rect">
            <a:avLst/>
          </a:prstGeom>
          <a:solidFill>
            <a:srgbClr val="1C7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1463040"/>
            <a:ext cx="32461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700" b="1">
                <a:solidFill>
                  <a:srgbClr val="1C7C54"/>
                </a:solidFill>
                <a:latin typeface="Calibri"/>
              </a:defRPr>
            </a:pPr>
            <a:r>
              <a:t>What is demonstrated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865376"/>
            <a:ext cx="3099816" cy="1323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Calibri"/>
              </a:defRPr>
            </a:pPr>
            <a:r>
              <a:rPr sz="1600" dirty="0"/>
              <a:t>A working offline vertical slice with profile selection, validation, safety rules, prediction disclosure, evidence retrieval, persistence and audit.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353312"/>
            <a:ext cx="3520440" cy="2834640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353312"/>
            <a:ext cx="73152" cy="28346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07992" y="1463040"/>
            <a:ext cx="32461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700" b="1">
                <a:solidFill>
                  <a:srgbClr val="5B9BD5"/>
                </a:solidFill>
                <a:latin typeface="Calibri"/>
              </a:defRPr>
            </a:pPr>
            <a:r>
              <a:t>Why it is credible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1865376"/>
            <a:ext cx="3019081" cy="1323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Calibri"/>
              </a:defRPr>
            </a:pPr>
            <a:r>
              <a:rPr sz="1600" dirty="0"/>
              <a:t>Safety precedence is observable. Evidence is profile-filtered. Saved cases can be reopened. Synthetic assets and omitted capabilities are explicitly disclosed.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353312"/>
            <a:ext cx="3520440" cy="2834640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75320" y="1353312"/>
            <a:ext cx="73152" cy="2834640"/>
          </a:xfrm>
          <a:prstGeom prst="rect">
            <a:avLst/>
          </a:prstGeom>
          <a:solidFill>
            <a:srgbClr val="2E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39912" y="1463040"/>
            <a:ext cx="32461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700" b="1">
                <a:solidFill>
                  <a:srgbClr val="2E9B8C"/>
                </a:solidFill>
                <a:latin typeface="Calibri"/>
              </a:defRPr>
            </a:pPr>
            <a:r>
              <a:t>Next implementation 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2" y="1865376"/>
            <a:ext cx="3176016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Calibri"/>
              </a:defRPr>
            </a:pPr>
            <a:r>
              <a:rPr sz="1600" dirty="0"/>
              <a:t>add </a:t>
            </a:r>
            <a:r>
              <a:rPr sz="1600" dirty="0" err="1"/>
              <a:t>PyMuPDF</a:t>
            </a:r>
            <a:r>
              <a:rPr sz="1600" dirty="0"/>
              <a:t> extraction and human review; retain lightweight fallback and fixed safety order.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1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56032" y="438912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700" b="1">
                <a:solidFill>
                  <a:srgbClr val="1F4E79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45720"/>
            <a:ext cx="45720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Offline Edge Telemetry and Repair Support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11064240" cy="4251960"/>
          </a:xfrm>
          <a:prstGeom prst="rect">
            <a:avLst/>
          </a:prstGeom>
          <a:noFill/>
        </p:spPr>
        <p:txBody>
          <a:bodyPr wrap="none" lIns="45720" tIns="27432" rIns="27432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42424"/>
                </a:solidFill>
                <a:latin typeface="Calibri"/>
              </a:defRPr>
            </a:pPr>
            <a:r>
              <a:t>• UCI Machine Learning Repository — AI4I 2020 Predictive Maintenance Dataset.</a:t>
            </a:r>
          </a:p>
          <a:p>
            <a:pPr>
              <a:spcAft>
                <a:spcPts val="900"/>
              </a:spcAft>
              <a:defRPr sz="1600">
                <a:solidFill>
                  <a:srgbClr val="242424"/>
                </a:solidFill>
                <a:latin typeface="Calibri"/>
              </a:defRPr>
            </a:pPr>
            <a:r>
              <a:t>• PyMuPDF Documentation — Text extraction and reading-order considerations.</a:t>
            </a:r>
          </a:p>
          <a:p>
            <a:pPr>
              <a:spcAft>
                <a:spcPts val="900"/>
              </a:spcAft>
              <a:defRPr sz="1600">
                <a:solidFill>
                  <a:srgbClr val="242424"/>
                </a:solidFill>
                <a:latin typeface="Calibri"/>
              </a:defRPr>
            </a:pPr>
            <a:r>
              <a:t>• OWASP GenAI Security Project — LLM01 Prompt Injection.</a:t>
            </a:r>
          </a:p>
          <a:p>
            <a:pPr>
              <a:spcAft>
                <a:spcPts val="900"/>
              </a:spcAft>
              <a:defRPr sz="1600">
                <a:solidFill>
                  <a:srgbClr val="242424"/>
                </a:solidFill>
                <a:latin typeface="Calibri"/>
              </a:defRPr>
            </a:pPr>
            <a:r>
              <a:t>• NIST — AI Risk Management Framework 1.0.</a:t>
            </a:r>
          </a:p>
          <a:p>
            <a:pPr>
              <a:spcAft>
                <a:spcPts val="900"/>
              </a:spcAft>
              <a:defRPr sz="1600">
                <a:solidFill>
                  <a:srgbClr val="242424"/>
                </a:solidFill>
                <a:latin typeface="Calibri"/>
              </a:defRPr>
            </a:pPr>
            <a:r>
              <a:t>• W3C — WCAG 2.1 Contrast Minimum.</a:t>
            </a:r>
          </a:p>
          <a:p>
            <a:pPr>
              <a:spcAft>
                <a:spcPts val="900"/>
              </a:spcAft>
              <a:defRPr sz="1600">
                <a:solidFill>
                  <a:srgbClr val="242424"/>
                </a:solidFill>
                <a:latin typeface="Calibri"/>
              </a:defRPr>
            </a:pPr>
            <a:r>
              <a:t>• Streamlit Documentation — File uploader and application widgets.</a:t>
            </a:r>
          </a:p>
          <a:p>
            <a:pPr>
              <a:spcAft>
                <a:spcPts val="900"/>
              </a:spcAft>
              <a:defRPr sz="1600">
                <a:solidFill>
                  <a:srgbClr val="242424"/>
                </a:solidFill>
                <a:latin typeface="Calibri"/>
              </a:defRPr>
            </a:pPr>
            <a:r>
              <a:t>• Hong et al. — Intelligent Predictive Maintenance RAG Framework for Power Plants, EMNLP Industry 2024.</a:t>
            </a:r>
          </a:p>
          <a:p>
            <a:pPr>
              <a:spcAft>
                <a:spcPts val="900"/>
              </a:spcAft>
              <a:defRPr sz="1600">
                <a:solidFill>
                  <a:srgbClr val="242424"/>
                </a:solidFill>
                <a:latin typeface="Calibri"/>
              </a:defRPr>
            </a:pPr>
            <a:r>
              <a:t>• Project Bible v3.0 — Offline Edge Telemetry and Repair Support System.</a:t>
            </a:r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22529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3600" b="1" dirty="0">
                <a:solidFill>
                  <a:srgbClr val="FFFFFF"/>
                </a:solidFill>
                <a:latin typeface="Calibri"/>
              </a:rPr>
              <a:t>Review III
Multi</a:t>
            </a:r>
            <a:r>
              <a:rPr lang="en-IN" sz="3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3600" b="1" dirty="0">
                <a:solidFill>
                  <a:srgbClr val="FFFFFF"/>
                </a:solidFill>
                <a:latin typeface="Calibri"/>
              </a:rPr>
              <a:t>Agent Marketing Campaign Governance
Adithyash B</a:t>
            </a:r>
            <a:r>
              <a:rPr lang="en-IN" sz="3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3600" b="1" dirty="0" err="1">
                <a:solidFill>
                  <a:srgbClr val="FFFFFF"/>
                </a:solidFill>
                <a:latin typeface="Calibri"/>
              </a:rPr>
              <a:t>Chandaralingam</a:t>
            </a:r>
            <a:endParaRPr sz="3600" b="1" dirty="0">
              <a:solidFill>
                <a:srgbClr val="FFFFFF"/>
              </a:solidFill>
              <a:latin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26E0B16-5F09-568C-CF86-4AFFD9903429}"/>
              </a:ext>
            </a:extLst>
          </p:cNvPr>
          <p:cNvSpPr txBox="1"/>
          <p:nvPr/>
        </p:nvSpPr>
        <p:spPr>
          <a:xfrm>
            <a:off x="4736892" y="4167266"/>
            <a:ext cx="2422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T-9923</a:t>
            </a:r>
          </a:p>
        </p:txBody>
      </p:sp>
    </p:spTree>
    <p:extLst>
      <p:ext uri="{BB962C8B-B14F-4D97-AF65-F5344CB8AC3E}">
        <p14:creationId xmlns:p14="http://schemas.microsoft.com/office/powerpoint/2010/main" val="3896350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lIns="27432" tIns="18288" rIns="27432" bIns="18288" rtlCol="0">
            <a:spAutoFit/>
          </a:bodyPr>
          <a:lstStyle/>
          <a:p>
            <a:pPr algn="l"/>
            <a:r>
              <a:rPr sz="2700" b="1">
                <a:solidFill>
                  <a:srgbClr val="1F4E79"/>
                </a:solidFill>
                <a:latin typeface="Calibri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1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lIns="27432" tIns="18288" rIns="27432" bIns="18288" rtlCol="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Multi-Agent Marketing Campaign Governance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53312"/>
            <a:ext cx="1097280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Calibri"/>
              </a:rPr>
              <a:t>A local-first decision-support platform that converts meeting evidence into an auditable campaign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965960"/>
            <a:ext cx="324612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A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800" b="1" dirty="0">
                <a:solidFill>
                  <a:srgbClr val="1F4E79"/>
                </a:solidFill>
                <a:latin typeface="Calibri"/>
              </a:rPr>
              <a:t>INPUT
Teams transcript / brief
Campaign proposal / question
Supporting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1965960"/>
            <a:ext cx="365760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800" b="1">
                <a:solidFill>
                  <a:srgbClr val="1F4E79"/>
                </a:solidFill>
                <a:latin typeface="Calibri"/>
              </a:rPr>
              <a:t>COUNCIL
Growth • Audit
Finance • Audience
Intermediary synthesis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965960"/>
            <a:ext cx="338328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CC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800" b="1">
                <a:solidFill>
                  <a:srgbClr val="1F4E79"/>
                </a:solidFill>
                <a:latin typeface="Calibri"/>
              </a:rPr>
              <a:t>OUTPUT
Evidence-linked findings
Hard gates + scorecard
Human disposition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75887" y="3172968"/>
            <a:ext cx="274321" cy="1"/>
          </a:xfrm>
          <a:prstGeom prst="line">
            <a:avLst/>
          </a:prstGeom>
          <a:ln w="25400">
            <a:solidFill>
              <a:srgbClr val="2AA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53527" y="3172968"/>
            <a:ext cx="274321" cy="1"/>
          </a:xfrm>
          <a:prstGeom prst="line">
            <a:avLst/>
          </a:prstGeom>
          <a:ln w="25400">
            <a:solidFill>
              <a:srgbClr val="2AA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0800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lIns="27432" tIns="18288" rIns="27432" bIns="18288" rtlCol="0">
            <a:spAutoFit/>
          </a:bodyPr>
          <a:lstStyle/>
          <a:p>
            <a:pPr algn="l"/>
            <a:r>
              <a:rPr sz="2700" b="1">
                <a:solidFill>
                  <a:srgbClr val="1F4E79"/>
                </a:solidFill>
                <a:latin typeface="Calibri"/>
              </a:rPr>
              <a:t>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1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lIns="27432" tIns="18288" rIns="27432" bIns="18288" rtlCol="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Multi-Agent Marketing Campaign Governance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2286000"/>
            <a:ext cx="3383280" cy="1143000"/>
          </a:xfrm>
          <a:prstGeom prst="roundRect">
            <a:avLst/>
          </a:prstGeom>
          <a:solidFill>
            <a:srgbClr val="1F4E79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UNDENIABLE CENTRAL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324612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1">
                <a:solidFill>
                  <a:srgbClr val="1F4E79"/>
                </a:solidFill>
                <a:latin typeface="Calibri"/>
              </a:rPr>
              <a:t>1  EXTRACT
Convert transcript evidence into structured campaign fields.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49039" y="2167128"/>
            <a:ext cx="658369" cy="685800"/>
          </a:xfrm>
          <a:prstGeom prst="line">
            <a:avLst/>
          </a:prstGeom>
          <a:ln w="19050">
            <a:solidFill>
              <a:srgbClr val="2AA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0" y="1508760"/>
            <a:ext cx="324612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1">
                <a:solidFill>
                  <a:srgbClr val="1F4E79"/>
                </a:solidFill>
                <a:latin typeface="Calibri"/>
              </a:rPr>
              <a:t>2  RETRIEVE
Rank relevant transcript and policy evidence.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7790688" y="2167128"/>
            <a:ext cx="621792" cy="685800"/>
          </a:xfrm>
          <a:prstGeom prst="line">
            <a:avLst/>
          </a:prstGeom>
          <a:ln w="19050">
            <a:solidFill>
              <a:srgbClr val="2AA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2920" y="3840480"/>
            <a:ext cx="324612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1">
                <a:solidFill>
                  <a:srgbClr val="1F4E79"/>
                </a:solidFill>
                <a:latin typeface="Calibri"/>
              </a:rPr>
              <a:t>3  DELIBERATE
Run bounded specialist analysis and council synthesis.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3749039" y="2852928"/>
            <a:ext cx="658369" cy="1645920"/>
          </a:xfrm>
          <a:prstGeom prst="line">
            <a:avLst/>
          </a:prstGeom>
          <a:ln w="19050">
            <a:solidFill>
              <a:srgbClr val="2AA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412480" y="3840480"/>
            <a:ext cx="324612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1">
                <a:solidFill>
                  <a:srgbClr val="1F4E79"/>
                </a:solidFill>
                <a:latin typeface="Calibri"/>
              </a:rPr>
              <a:t>4  GOVERN
Apply deterministic finance, hard gates and human disposition.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7790688" y="2852928"/>
            <a:ext cx="621792" cy="1645920"/>
          </a:xfrm>
          <a:prstGeom prst="line">
            <a:avLst/>
          </a:prstGeom>
          <a:ln w="19050">
            <a:solidFill>
              <a:srgbClr val="2AA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3965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lIns="27432" tIns="18288" rIns="27432" bIns="18288" rtlCol="0">
            <a:spAutoFit/>
          </a:bodyPr>
          <a:lstStyle/>
          <a:p>
            <a:pPr algn="l"/>
            <a:r>
              <a:rPr sz="2700" b="1">
                <a:solidFill>
                  <a:srgbClr val="1F4E79"/>
                </a:solidFill>
                <a:latin typeface="Calibri"/>
              </a:rPr>
              <a:t>System Modules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1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lIns="27432" tIns="18288" rIns="27432" bIns="18288" rtlCol="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Multi-Agent Marketing Campaign Governance Engine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1508760"/>
            <a:ext cx="3337560" cy="1481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A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600" b="1">
                <a:solidFill>
                  <a:srgbClr val="1F4E79"/>
                </a:solidFill>
                <a:latin typeface="Calibri"/>
              </a:rPr>
              <a:t>1. Ingestion
TXT/VTT upload
proposal input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33672" y="1508760"/>
            <a:ext cx="3337560" cy="1481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600" b="1">
                <a:solidFill>
                  <a:srgbClr val="1F4E79"/>
                </a:solidFill>
                <a:latin typeface="Calibri"/>
              </a:rPr>
              <a:t>2. Extraction
Pydantic campaign
schema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55863" y="1508760"/>
            <a:ext cx="3337560" cy="1481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CC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600" b="1">
                <a:solidFill>
                  <a:srgbClr val="1F4E79"/>
                </a:solidFill>
                <a:latin typeface="Calibri"/>
              </a:rPr>
              <a:t>3. Retrieval
BM25 transcript +
policy ranking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566160"/>
            <a:ext cx="3337560" cy="1481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A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600" b="1">
                <a:solidFill>
                  <a:srgbClr val="1F4E79"/>
                </a:solidFill>
                <a:latin typeface="Calibri"/>
              </a:rPr>
              <a:t>4. Council
Growth • Audit •
Finance • Audience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33672" y="3566160"/>
            <a:ext cx="3337560" cy="1481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600" b="1">
                <a:solidFill>
                  <a:srgbClr val="1F4E79"/>
                </a:solidFill>
                <a:latin typeface="Calibri"/>
              </a:rPr>
              <a:t>5. Governance
Finance rules +
hard gates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55863" y="3566160"/>
            <a:ext cx="3337560" cy="1481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CC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600" b="1">
                <a:solidFill>
                  <a:srgbClr val="1F4E79"/>
                </a:solidFill>
                <a:latin typeface="Calibri"/>
              </a:rPr>
              <a:t>6. Persistence
SQLite history +
human decision</a:t>
            </a:r>
          </a:p>
        </p:txBody>
      </p:sp>
    </p:spTree>
    <p:extLst>
      <p:ext uri="{BB962C8B-B14F-4D97-AF65-F5344CB8AC3E}">
        <p14:creationId xmlns:p14="http://schemas.microsoft.com/office/powerpoint/2010/main" val="564352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lIns="27432" tIns="18288" rIns="27432" bIns="18288" rtlCol="0">
            <a:spAutoFit/>
          </a:bodyPr>
          <a:lstStyle/>
          <a:p>
            <a:pPr algn="l"/>
            <a:r>
              <a:rPr sz="2700" b="1">
                <a:solidFill>
                  <a:srgbClr val="1F4E79"/>
                </a:solidFill>
                <a:latin typeface="Calibri"/>
              </a:rPr>
              <a:t>Problem Statement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1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lIns="27432" tIns="18288" rIns="27432" bIns="18288" rtlCol="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Multi-Agent Marketing Campaign Governance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1115568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Calibri"/>
              </a:rPr>
              <a:t>Marketing proposals are often discussed in meetings, but the evidence, constraints and decision logic remain fragmented.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49377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D43A32"/>
                </a:solidFill>
                <a:latin typeface="Calibri"/>
              </a:rPr>
              <a:t>CURRENT GAPS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65960"/>
            <a:ext cx="49377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2CC36B"/>
                </a:solidFill>
                <a:latin typeface="Calibri"/>
              </a:rPr>
              <a:t>PROJECT RESPONSE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68880"/>
            <a:ext cx="4983480" cy="566928"/>
          </a:xfrm>
          <a:prstGeom prst="roundRect">
            <a:avLst/>
          </a:prstGeom>
          <a:solidFill>
            <a:srgbClr val="FDF2F1"/>
          </a:solidFill>
          <a:ln w="15240">
            <a:solidFill>
              <a:srgbClr val="D4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0">
                <a:solidFill>
                  <a:srgbClr val="242424"/>
                </a:solidFill>
                <a:latin typeface="Calibri"/>
              </a:rPr>
              <a:t>Meeting transcripts are unstructured and lengthy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532120" y="2752344"/>
            <a:ext cx="731520" cy="1"/>
          </a:xfrm>
          <a:prstGeom prst="line">
            <a:avLst/>
          </a:prstGeom>
          <a:ln w="19050">
            <a:solidFill>
              <a:srgbClr val="2AA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0" y="2468880"/>
            <a:ext cx="4983480" cy="566928"/>
          </a:xfrm>
          <a:prstGeom prst="roundRect">
            <a:avLst/>
          </a:prstGeom>
          <a:solidFill>
            <a:srgbClr val="F0FAF5"/>
          </a:solidFill>
          <a:ln w="15240">
            <a:solidFill>
              <a:srgbClr val="2CC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0">
                <a:solidFill>
                  <a:srgbClr val="242424"/>
                </a:solidFill>
                <a:latin typeface="Calibri"/>
              </a:rPr>
              <a:t>Structured extraction with missing-field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27832"/>
            <a:ext cx="4983480" cy="566928"/>
          </a:xfrm>
          <a:prstGeom prst="roundRect">
            <a:avLst/>
          </a:prstGeom>
          <a:solidFill>
            <a:srgbClr val="FDF2F1"/>
          </a:solidFill>
          <a:ln w="15240">
            <a:solidFill>
              <a:srgbClr val="D4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0">
                <a:solidFill>
                  <a:srgbClr val="242424"/>
                </a:solidFill>
                <a:latin typeface="Calibri"/>
              </a:rPr>
              <a:t>Compliance and budget concerns can be hidden by positive scoring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532120" y="3511296"/>
            <a:ext cx="731520" cy="1"/>
          </a:xfrm>
          <a:prstGeom prst="line">
            <a:avLst/>
          </a:prstGeom>
          <a:ln w="19050">
            <a:solidFill>
              <a:srgbClr val="2AA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0" y="3227832"/>
            <a:ext cx="4983480" cy="566928"/>
          </a:xfrm>
          <a:prstGeom prst="roundRect">
            <a:avLst/>
          </a:prstGeom>
          <a:solidFill>
            <a:srgbClr val="F0FAF5"/>
          </a:solidFill>
          <a:ln w="15240">
            <a:solidFill>
              <a:srgbClr val="2CC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0">
                <a:solidFill>
                  <a:srgbClr val="242424"/>
                </a:solidFill>
                <a:latin typeface="Calibri"/>
              </a:rPr>
              <a:t>Deterministic gates override weighted scores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86784"/>
            <a:ext cx="4983480" cy="566928"/>
          </a:xfrm>
          <a:prstGeom prst="roundRect">
            <a:avLst/>
          </a:prstGeom>
          <a:solidFill>
            <a:srgbClr val="FDF2F1"/>
          </a:solidFill>
          <a:ln w="15240">
            <a:solidFill>
              <a:srgbClr val="D4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0">
                <a:solidFill>
                  <a:srgbClr val="242424"/>
                </a:solidFill>
                <a:latin typeface="Calibri"/>
              </a:rPr>
              <a:t>Generic AI outputs lack evidence traceability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532120" y="4270248"/>
            <a:ext cx="731520" cy="1"/>
          </a:xfrm>
          <a:prstGeom prst="line">
            <a:avLst/>
          </a:prstGeom>
          <a:ln w="19050">
            <a:solidFill>
              <a:srgbClr val="2AA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00800" y="3986784"/>
            <a:ext cx="4983480" cy="566928"/>
          </a:xfrm>
          <a:prstGeom prst="roundRect">
            <a:avLst/>
          </a:prstGeom>
          <a:solidFill>
            <a:srgbClr val="F0FAF5"/>
          </a:solidFill>
          <a:ln w="15240">
            <a:solidFill>
              <a:srgbClr val="2CC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0">
                <a:solidFill>
                  <a:srgbClr val="242424"/>
                </a:solidFill>
                <a:latin typeface="Calibri"/>
              </a:rPr>
              <a:t>Stable segment IDs, ranked evidence and policy citations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745736"/>
            <a:ext cx="4983480" cy="566928"/>
          </a:xfrm>
          <a:prstGeom prst="roundRect">
            <a:avLst/>
          </a:prstGeom>
          <a:solidFill>
            <a:srgbClr val="FDF2F1"/>
          </a:solidFill>
          <a:ln w="15240">
            <a:solidFill>
              <a:srgbClr val="D4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0">
                <a:solidFill>
                  <a:srgbClr val="242424"/>
                </a:solidFill>
                <a:latin typeface="Calibri"/>
              </a:rPr>
              <a:t>Multi-agent demos often obscure hand-offs and human authority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532120" y="5029199"/>
            <a:ext cx="731520" cy="1"/>
          </a:xfrm>
          <a:prstGeom prst="line">
            <a:avLst/>
          </a:prstGeom>
          <a:ln w="19050">
            <a:solidFill>
              <a:srgbClr val="2AA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00800" y="4745736"/>
            <a:ext cx="4983480" cy="566928"/>
          </a:xfrm>
          <a:prstGeom prst="roundRect">
            <a:avLst/>
          </a:prstGeom>
          <a:solidFill>
            <a:srgbClr val="F0FAF5"/>
          </a:solidFill>
          <a:ln w="15240">
            <a:solidFill>
              <a:srgbClr val="2CC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0">
                <a:solidFill>
                  <a:srgbClr val="242424"/>
                </a:solidFill>
                <a:latin typeface="Calibri"/>
              </a:rPr>
              <a:t>Visible council states, bounded synthesis and mandatory disposition</a:t>
            </a:r>
          </a:p>
        </p:txBody>
      </p:sp>
    </p:spTree>
    <p:extLst>
      <p:ext uri="{BB962C8B-B14F-4D97-AF65-F5344CB8AC3E}">
        <p14:creationId xmlns:p14="http://schemas.microsoft.com/office/powerpoint/2010/main" val="3613685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lIns="27432" tIns="18288" rIns="27432" bIns="18288" rtlCol="0">
            <a:spAutoFit/>
          </a:bodyPr>
          <a:lstStyle/>
          <a:p>
            <a:pPr algn="l"/>
            <a:r>
              <a:rPr sz="2700" b="1">
                <a:solidFill>
                  <a:srgbClr val="1F4E79"/>
                </a:solidFill>
                <a:latin typeface="Calibri"/>
              </a:rPr>
              <a:t>Methodology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1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lIns="27432" tIns="18288" rIns="27432" bIns="18288" rtlCol="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Multi-Agent Marketing Campaign Governance Engine</a:t>
            </a:r>
          </a:p>
        </p:txBody>
      </p:sp>
      <p:sp>
        <p:nvSpPr>
          <p:cNvPr id="7" name="Chevron 6"/>
          <p:cNvSpPr/>
          <p:nvPr/>
        </p:nvSpPr>
        <p:spPr>
          <a:xfrm>
            <a:off x="384048" y="1965960"/>
            <a:ext cx="1572768" cy="1143000"/>
          </a:xfrm>
          <a:prstGeom prst="chevron">
            <a:avLst/>
          </a:prstGeom>
          <a:solidFill>
            <a:srgbClr val="FFFFFF"/>
          </a:solidFill>
          <a:ln w="15240">
            <a:solidFill>
              <a:srgbClr val="2AA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1
Evidence input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65960" y="2542032"/>
            <a:ext cx="292608" cy="1"/>
          </a:xfrm>
          <a:prstGeom prst="line">
            <a:avLst/>
          </a:prstGeom>
          <a:ln w="19050">
            <a:solidFill>
              <a:srgbClr val="2AA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2322576" y="1965960"/>
            <a:ext cx="1572768" cy="1143000"/>
          </a:xfrm>
          <a:prstGeom prst="chevron">
            <a:avLst/>
          </a:prstGeom>
          <a:solidFill>
            <a:srgbClr val="FFFFFF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2
Campaign extraction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04487" y="2542032"/>
            <a:ext cx="292609" cy="1"/>
          </a:xfrm>
          <a:prstGeom prst="line">
            <a:avLst/>
          </a:prstGeom>
          <a:ln w="19050">
            <a:solidFill>
              <a:srgbClr val="2AA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evron 10"/>
          <p:cNvSpPr/>
          <p:nvPr/>
        </p:nvSpPr>
        <p:spPr>
          <a:xfrm>
            <a:off x="4261104" y="1965960"/>
            <a:ext cx="1572768" cy="1143000"/>
          </a:xfrm>
          <a:prstGeom prst="chevron">
            <a:avLst/>
          </a:prstGeom>
          <a:solidFill>
            <a:srgbClr val="FFFFFF"/>
          </a:solidFill>
          <a:ln w="15240">
            <a:solidFill>
              <a:srgbClr val="2AA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3
BM25 retrieval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43016" y="2542032"/>
            <a:ext cx="292608" cy="1"/>
          </a:xfrm>
          <a:prstGeom prst="line">
            <a:avLst/>
          </a:prstGeom>
          <a:ln w="19050">
            <a:solidFill>
              <a:srgbClr val="2AA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evron 12"/>
          <p:cNvSpPr/>
          <p:nvPr/>
        </p:nvSpPr>
        <p:spPr>
          <a:xfrm>
            <a:off x="6199632" y="1965960"/>
            <a:ext cx="1572768" cy="1143000"/>
          </a:xfrm>
          <a:prstGeom prst="chevron">
            <a:avLst/>
          </a:prstGeom>
          <a:solidFill>
            <a:srgbClr val="FFFFFF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4
Specialist council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81544" y="2542032"/>
            <a:ext cx="292608" cy="1"/>
          </a:xfrm>
          <a:prstGeom prst="line">
            <a:avLst/>
          </a:prstGeom>
          <a:ln w="19050">
            <a:solidFill>
              <a:srgbClr val="2AA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evron 14"/>
          <p:cNvSpPr/>
          <p:nvPr/>
        </p:nvSpPr>
        <p:spPr>
          <a:xfrm>
            <a:off x="8138160" y="1965960"/>
            <a:ext cx="1572768" cy="1143000"/>
          </a:xfrm>
          <a:prstGeom prst="chevron">
            <a:avLst/>
          </a:prstGeom>
          <a:solidFill>
            <a:srgbClr val="FFFFFF"/>
          </a:solidFill>
          <a:ln w="15240">
            <a:solidFill>
              <a:srgbClr val="2CC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5
Council synthesis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720072" y="2542032"/>
            <a:ext cx="292608" cy="1"/>
          </a:xfrm>
          <a:prstGeom prst="line">
            <a:avLst/>
          </a:prstGeom>
          <a:ln w="19050">
            <a:solidFill>
              <a:srgbClr val="2AA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076688" y="1965960"/>
            <a:ext cx="1572768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6
Governance + human 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703320"/>
            <a:ext cx="18288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Hybrid workflow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087368"/>
            <a:ext cx="3429000" cy="1005840"/>
          </a:xfrm>
          <a:prstGeom prst="roundRect">
            <a:avLst/>
          </a:prstGeom>
          <a:solidFill>
            <a:srgbClr val="EFF7FC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1">
                <a:solidFill>
                  <a:srgbClr val="1F4E79"/>
                </a:solidFill>
                <a:latin typeface="Calibri"/>
              </a:rPr>
              <a:t>MODEL-DRIVEN
Extraction + four-role specialist 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4087368"/>
            <a:ext cx="3429000" cy="1005840"/>
          </a:xfrm>
          <a:prstGeom prst="roundRect">
            <a:avLst/>
          </a:prstGeom>
          <a:solidFill>
            <a:srgbClr val="F0FAF5"/>
          </a:solidFill>
          <a:ln w="15240">
            <a:solidFill>
              <a:srgbClr val="2CC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1">
                <a:solidFill>
                  <a:srgbClr val="1F4E79"/>
                </a:solidFill>
                <a:latin typeface="Calibri"/>
              </a:rPr>
              <a:t>DETERMINISTIC
Retrieval + finance + gates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4087368"/>
            <a:ext cx="3429000" cy="1005840"/>
          </a:xfrm>
          <a:prstGeom prst="roundRect">
            <a:avLst/>
          </a:prstGeom>
          <a:solidFill>
            <a:srgbClr val="FDF8E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1">
                <a:solidFill>
                  <a:srgbClr val="1F4E79"/>
                </a:solidFill>
                <a:latin typeface="Calibri"/>
              </a:rPr>
              <a:t>HUMAN-CONTROLLED
Final disposition and notes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440680"/>
            <a:ext cx="960120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500" b="1">
                <a:solidFill>
                  <a:srgbClr val="D43A32"/>
                </a:solidFill>
                <a:latin typeface="Calibri"/>
              </a:rPr>
              <a:t>Fail-safe principle: if local model inference fails, the workflow exposes fallback state rather than hiding it.</a:t>
            </a:r>
          </a:p>
        </p:txBody>
      </p:sp>
    </p:spTree>
    <p:extLst>
      <p:ext uri="{BB962C8B-B14F-4D97-AF65-F5344CB8AC3E}">
        <p14:creationId xmlns:p14="http://schemas.microsoft.com/office/powerpoint/2010/main" val="2478988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lIns="27432" tIns="18288" rIns="27432" bIns="18288" rtlCol="0">
            <a:spAutoFit/>
          </a:bodyPr>
          <a:lstStyle/>
          <a:p>
            <a:pPr algn="l"/>
            <a:r>
              <a:rPr sz="2700" b="1">
                <a:solidFill>
                  <a:srgbClr val="1F4E79"/>
                </a:solidFill>
                <a:latin typeface="Calibri"/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1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lIns="27432" tIns="18288" rIns="27432" bIns="18288" rtlCol="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Multi-Agent Marketing Campaign Governance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057400" cy="530352"/>
          </a:xfrm>
          <a:prstGeom prst="roundRect">
            <a:avLst/>
          </a:prstGeom>
          <a:solidFill>
            <a:srgbClr val="EBF4FB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Browser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371600"/>
            <a:ext cx="27432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A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HTML • CSS • 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417320"/>
            <a:ext cx="557784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242424"/>
                </a:solidFill>
                <a:latin typeface="Calibri"/>
              </a:rPr>
              <a:t>Progressive disclosure, agent visualization, evidence panels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75688"/>
            <a:ext cx="2057400" cy="530352"/>
          </a:xfrm>
          <a:prstGeom prst="roundRect">
            <a:avLst/>
          </a:prstGeom>
          <a:solidFill>
            <a:srgbClr val="F0FAF5"/>
          </a:solidFill>
          <a:ln w="15240">
            <a:solidFill>
              <a:srgbClr val="2CC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API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2075688"/>
            <a:ext cx="27432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A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FastAPI • Pydantic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121408"/>
            <a:ext cx="557784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242424"/>
                </a:solidFill>
                <a:latin typeface="Calibri"/>
              </a:rPr>
              <a:t>Typed endpoints, validation and interactive API documentation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79776"/>
            <a:ext cx="2057400" cy="530352"/>
          </a:xfrm>
          <a:prstGeom prst="roundRect">
            <a:avLst/>
          </a:prstGeom>
          <a:solidFill>
            <a:srgbClr val="EBF4FB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Orchestration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2779776"/>
            <a:ext cx="27432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A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LangGraph StateGraph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825496"/>
            <a:ext cx="557784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242424"/>
                </a:solidFill>
                <a:latin typeface="Calibri"/>
              </a:rPr>
              <a:t>Explicit nodes for extraction, retrieval, council and governance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83864"/>
            <a:ext cx="2057400" cy="530352"/>
          </a:xfrm>
          <a:prstGeom prst="roundRect">
            <a:avLst/>
          </a:prstGeom>
          <a:solidFill>
            <a:srgbClr val="F0FAF5"/>
          </a:solidFill>
          <a:ln w="15240">
            <a:solidFill>
              <a:srgbClr val="2CC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Retrieval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51760" y="3483864"/>
            <a:ext cx="27432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A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BM25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529584"/>
            <a:ext cx="557784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242424"/>
                </a:solidFill>
                <a:latin typeface="Calibri"/>
              </a:rPr>
              <a:t>Ranked transcript segments and synthetic policy passages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87952"/>
            <a:ext cx="2057400" cy="530352"/>
          </a:xfrm>
          <a:prstGeom prst="roundRect">
            <a:avLst/>
          </a:prstGeom>
          <a:solidFill>
            <a:srgbClr val="EBF4FB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Local 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51760" y="4187952"/>
            <a:ext cx="27432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A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Ollama • Qwen 2.5 3B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233672"/>
            <a:ext cx="557784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242424"/>
                </a:solidFill>
                <a:latin typeface="Calibri"/>
              </a:rPr>
              <a:t>Schema-constrained extraction and one bounded specialist call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892040"/>
            <a:ext cx="2057400" cy="530352"/>
          </a:xfrm>
          <a:prstGeom prst="roundRect">
            <a:avLst/>
          </a:prstGeom>
          <a:solidFill>
            <a:srgbClr val="F0FAF5"/>
          </a:solidFill>
          <a:ln w="15240">
            <a:solidFill>
              <a:srgbClr val="2CC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Control &amp; Store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4892040"/>
            <a:ext cx="27432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A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Python rules • SQLite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4937759"/>
            <a:ext cx="557784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242424"/>
                </a:solidFill>
                <a:latin typeface="Calibri"/>
              </a:rPr>
              <a:t>Budget variance, hard gates, history and disposition</a:t>
            </a:r>
          </a:p>
        </p:txBody>
      </p:sp>
    </p:spTree>
    <p:extLst>
      <p:ext uri="{BB962C8B-B14F-4D97-AF65-F5344CB8AC3E}">
        <p14:creationId xmlns:p14="http://schemas.microsoft.com/office/powerpoint/2010/main" val="2483787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lIns="27432" tIns="18288" rIns="27432" bIns="18288" rtlCol="0">
            <a:spAutoFit/>
          </a:bodyPr>
          <a:lstStyle/>
          <a:p>
            <a:pPr algn="l"/>
            <a:r>
              <a:rPr sz="2700" b="1">
                <a:solidFill>
                  <a:srgbClr val="1F4E79"/>
                </a:solidFill>
                <a:latin typeface="Calibri"/>
              </a:rPr>
              <a:t>Findings and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1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lIns="27432" tIns="18288" rIns="27432" bIns="18288" rtlCol="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Multi-Agent Marketing Campaign Governance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07592"/>
            <a:ext cx="109728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Functional review build: verified path and synthetic-case outcome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783080"/>
          <a:ext cx="690372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OBSERVED / IMPLEMENTED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42424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42424"/>
                          </a:solidFill>
                          <a:latin typeface="Calibri"/>
                        </a:rPr>
                        <a:t>3 automated tests 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42424"/>
                          </a:solidFill>
                          <a:latin typeface="Calibri"/>
                        </a:rPr>
                        <a:t>Current code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42424"/>
                          </a:solidFill>
                          <a:latin typeface="Calibri"/>
                        </a:rPr>
                        <a:t>Synthetic case</a:t>
                      </a:r>
                    </a:p>
                  </a:txBody>
                  <a:tcPr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42424"/>
                          </a:solidFill>
                          <a:latin typeface="Calibri"/>
                        </a:rPr>
                        <a:t>₹100,000 authorized vs ₹120,000 proposed</a:t>
                      </a:r>
                    </a:p>
                  </a:txBody>
                  <a:tcPr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42424"/>
                          </a:solidFill>
                          <a:latin typeface="Calibri"/>
                        </a:rPr>
                        <a:t>₹20,000 overspend</a:t>
                      </a:r>
                    </a:p>
                  </a:txBody>
                  <a:tcPr>
                    <a:solidFill>
                      <a:srgbClr val="F1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42424"/>
                          </a:solidFill>
                          <a:latin typeface="Calibri"/>
                        </a:rPr>
                        <a:t>Hard gates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42424"/>
                          </a:solidFill>
                          <a:latin typeface="Calibri"/>
                        </a:rPr>
                        <a:t>Budget violation + unsupported guarantee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42424"/>
                          </a:solidFill>
                          <a:latin typeface="Calibri"/>
                        </a:rPr>
                        <a:t>Revision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42424"/>
                          </a:solidFill>
                          <a:latin typeface="Calibri"/>
                        </a:rPr>
                        <a:t>Execution</a:t>
                      </a:r>
                    </a:p>
                  </a:txBody>
                  <a:tcPr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42424"/>
                          </a:solidFill>
                          <a:latin typeface="Calibri"/>
                        </a:rPr>
                        <a:t>LangGraph + BM25 + SQLite + local provider</a:t>
                      </a:r>
                    </a:p>
                  </a:txBody>
                  <a:tcPr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42424"/>
                          </a:solidFill>
                          <a:latin typeface="Calibri"/>
                        </a:rPr>
                        <a:t>Visible provider state</a:t>
                      </a:r>
                    </a:p>
                  </a:txBody>
                  <a:tcPr>
                    <a:solidFill>
                      <a:srgbClr val="F1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42424"/>
                          </a:solidFill>
                          <a:latin typeface="Calibri"/>
                        </a:rPr>
                        <a:t>Authority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42424"/>
                          </a:solidFill>
                          <a:latin typeface="Calibri"/>
                        </a:rPr>
                        <a:t>AI recommends; deterministic rules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42424"/>
                          </a:solidFill>
                          <a:latin typeface="Calibri"/>
                        </a:rPr>
                        <a:t>Human disposition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35240" y="1783080"/>
            <a:ext cx="3703320" cy="502920"/>
          </a:xfrm>
          <a:prstGeom prst="roundRect">
            <a:avLst/>
          </a:prstGeom>
          <a:solidFill>
            <a:srgbClr val="1F4E79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SYNTHETIC CASE OUTCOME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487168"/>
            <a:ext cx="3703320" cy="822960"/>
          </a:xfrm>
          <a:prstGeom prst="roundRect">
            <a:avLst/>
          </a:prstGeom>
          <a:solidFill>
            <a:srgbClr val="FDF2F1"/>
          </a:solidFill>
          <a:ln w="15240">
            <a:solidFill>
              <a:srgbClr val="D4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000" b="1">
                <a:solidFill>
                  <a:srgbClr val="D43A32"/>
                </a:solidFill>
                <a:latin typeface="Calibri"/>
              </a:rPr>
              <a:t>REVISION REQUIRED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3493008"/>
            <a:ext cx="173736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4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700" b="1">
                <a:solidFill>
                  <a:srgbClr val="1F4E79"/>
                </a:solidFill>
                <a:latin typeface="Calibri"/>
              </a:rPr>
              <a:t>2
Hard gates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3493008"/>
            <a:ext cx="173736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700" b="1">
                <a:solidFill>
                  <a:srgbClr val="1F4E79"/>
                </a:solidFill>
                <a:latin typeface="Calibri"/>
              </a:rPr>
              <a:t>4
Specialists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4645152"/>
            <a:ext cx="3703320" cy="566928"/>
          </a:xfrm>
          <a:prstGeom prst="roundRect">
            <a:avLst/>
          </a:prstGeom>
          <a:solidFill>
            <a:srgbClr val="F0FAF5"/>
          </a:solidFill>
          <a:ln w="15240">
            <a:solidFill>
              <a:srgbClr val="2CC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Result remains evidence-linked and human-governed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577840"/>
            <a:ext cx="1078992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300" b="0">
                <a:solidFill>
                  <a:srgbClr val="595959"/>
                </a:solidFill>
                <a:latin typeface="Calibri"/>
              </a:rPr>
              <a:t>Note: synthetic review data demonstrates behavior; these values are not model-accuracy benchmarks.</a:t>
            </a:r>
          </a:p>
        </p:txBody>
      </p:sp>
    </p:spTree>
    <p:extLst>
      <p:ext uri="{BB962C8B-B14F-4D97-AF65-F5344CB8AC3E}">
        <p14:creationId xmlns:p14="http://schemas.microsoft.com/office/powerpoint/2010/main" val="237167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lIns="27432" tIns="18288" rIns="27432" bIns="18288" rtlCol="0">
            <a:spAutoFit/>
          </a:bodyPr>
          <a:lstStyle/>
          <a:p>
            <a:pPr algn="l"/>
            <a:r>
              <a:rPr sz="2700" b="1">
                <a:solidFill>
                  <a:srgbClr val="1F4E79"/>
                </a:solidFill>
                <a:latin typeface="Calibri"/>
              </a:rPr>
              <a:t>Conclusion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1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lIns="27432" tIns="18288" rIns="27432" bIns="18288" rtlCol="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Multi-Agent Marketing Campaign Governance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3429000" cy="342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CC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600" b="1">
                <a:solidFill>
                  <a:srgbClr val="1F4E79"/>
                </a:solidFill>
                <a:latin typeface="Calibri"/>
              </a:rPr>
              <a:t>ACHIEVED
• Local on-device inference
• Real LangGraph workflow
• BM25 evidence retrieval
• Deterministic finance and gates
• SQLite history
• Human disposition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342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600" b="1">
                <a:solidFill>
                  <a:srgbClr val="1F4E79"/>
                </a:solidFill>
                <a:latin typeface="Calibri"/>
              </a:rPr>
              <a:t>CURRENT LIMITS
• Synthetic policy pack
• TXT/VTT inputs only
• No node-level resume
• No validated accuracy benchmark
• Review-scale deployment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417320"/>
            <a:ext cx="3429000" cy="342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600" b="1">
                <a:solidFill>
                  <a:srgbClr val="1F4E79"/>
                </a:solidFill>
                <a:latin typeface="Calibri"/>
              </a:rPr>
              <a:t>NEXT ITERATION
• Approved policy sources
• Hybrid BM25 + embeddings
• PDF ingestion
• LangGraph checkpointing
• Labeled benchmark suite</a:t>
            </a:r>
          </a:p>
        </p:txBody>
      </p:sp>
    </p:spTree>
    <p:extLst>
      <p:ext uri="{BB962C8B-B14F-4D97-AF65-F5344CB8AC3E}">
        <p14:creationId xmlns:p14="http://schemas.microsoft.com/office/powerpoint/2010/main" val="1315344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lIns="27432" tIns="18288" rIns="27432" bIns="18288" rtlCol="0">
            <a:spAutoFit/>
          </a:bodyPr>
          <a:lstStyle/>
          <a:p>
            <a:pPr algn="l"/>
            <a:r>
              <a:rPr sz="2700" b="1">
                <a:solidFill>
                  <a:srgbClr val="1F4E79"/>
                </a:solidFill>
                <a:latin typeface="Calibri"/>
              </a:rPr>
              <a:t>References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1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lIns="27432" tIns="18288" rIns="27432" bIns="18288" rtlCol="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Multi-Agent Marketing Campaign Governance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972800" cy="43891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242424"/>
                </a:solidFill>
                <a:latin typeface="Calibri"/>
              </a:rPr>
              <a:t>• 1. Ollama Documentation — Structured Outputs and Embeddings. docs.ollama.com
• 2. LangChain Documentation — LangGraph Overview and Workflows. docs.langchain.com
• 3. FastAPI Documentation — OpenAPI, validation and interactive API documentation. fastapi.tiangolo.com
• 4. Robertson, S. &amp; Zaragoza, H. (2009). The Probabilistic Relevance Framework: BM25 and Beyond.
• 5. FTC — Advertising and Marketing Guidance. ftc.gov/business-guidance/advertising-marketing
• 6. NIST — AI Risk Management Framework. nist.gov/itl/ai-risk-management-framework
• 7. Project source: local functional review build, synthetic transcript and synthetic internal policy pack.</a:t>
            </a:r>
          </a:p>
        </p:txBody>
      </p:sp>
    </p:spTree>
    <p:extLst>
      <p:ext uri="{BB962C8B-B14F-4D97-AF65-F5344CB8AC3E}">
        <p14:creationId xmlns:p14="http://schemas.microsoft.com/office/powerpoint/2010/main" val="4043593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1626</Words>
  <Application>Microsoft Office PowerPoint</Application>
  <PresentationFormat>Widescreen</PresentationFormat>
  <Paragraphs>272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Offline Edge Telemetry and Repair Support System - Review III</dc:title>
  <dc:subject>M.Tech Project Review III</dc:subject>
  <dc:creator>Adithyash BChandaralingam</dc:creator>
  <cp:lastModifiedBy>Adithyash Bchandaralingam</cp:lastModifiedBy>
  <cp:revision>21</cp:revision>
  <dcterms:created xsi:type="dcterms:W3CDTF">2026-10-09T07:54:12Z</dcterms:created>
  <dcterms:modified xsi:type="dcterms:W3CDTF">2026-10-09T09:21:06Z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